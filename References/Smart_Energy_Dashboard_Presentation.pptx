
<file path=[Content_Types].xml><?xml version="1.0" encoding="utf-8"?>
<Types xmlns="http://schemas.openxmlformats.org/package/2006/content-types"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90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Agency FB" panose="020B0503020202020204" pitchFamily="34" charset="0"/>
                <a:ea typeface="Arial Black" pitchFamily="34" charset="-122"/>
                <a:cs typeface="Arial Black" pitchFamily="34" charset="-120"/>
              </a:rPr>
              <a:t>Smart Energy Dashboard</a:t>
            </a:r>
            <a:endParaRPr lang="en-US" sz="6000" dirty="0">
              <a:latin typeface="Agency FB" panose="020B0503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2400301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  <a:latin typeface="Bell MT" panose="02020503060305020303" pitchFamily="18" charset="0"/>
              </a:rPr>
              <a:t>AI-Powered Energy Consumption Analysis &amp; Prediction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06977" y="2766061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 Group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⚡ 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</a:rPr>
              <a:t>• High electricity bills with no </a:t>
            </a:r>
            <a:r>
              <a:rPr lang="en-US" sz="1400" dirty="0" err="1">
                <a:solidFill>
                  <a:srgbClr val="2F3C7E"/>
                </a:solidFill>
              </a:rPr>
              <a:t>visibile</a:t>
            </a:r>
            <a:r>
              <a:rPr lang="en-US" sz="1400" dirty="0">
                <a:solidFill>
                  <a:srgbClr val="2F3C7E"/>
                </a:solidFill>
              </a:rPr>
              <a:t> usage patterns
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</a:rPr>
              <a:t>• Energy wastage due to inefficient appliance usage
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</a:rPr>
              <a:t>• Traditional billing provides only monthly totals
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</a:rPr>
              <a:t>• No device-level insights or future predictions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256032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🎯 THE 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</a:rPr>
              <a:t>• Real-time device-level energy monitoring
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</a:rPr>
              <a:t>• AI-powered predictions (LSTM neural network)
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</a:rPr>
              <a:t>• Interactive web dashboard with visualizations
</a:t>
            </a:r>
            <a:endParaRPr lang="en-US" sz="1400" dirty="0"/>
          </a:p>
          <a:p>
            <a:pPr>
              <a:buSzPct val="100000"/>
            </a:pPr>
            <a:r>
              <a:rPr lang="en-US" sz="1400" dirty="0">
                <a:solidFill>
                  <a:srgbClr val="2F3C7E"/>
                </a:solidFill>
              </a:rPr>
              <a:t>• Smart recommendations to save $300+/month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1E2761"/>
                </a:solidFill>
              </a:rPr>
              <a:t>Goal: Improve energy efficiency, lower costs, and support sustainable behavior</a:t>
            </a:r>
            <a:endParaRPr lang="en-US" sz="16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Outcomes &amp; Achievements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508760" y="12801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5087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</a:rPr>
              <a:t>ML Performance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99.8% prediction accuracy (R²)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LSTM beats baseline by 25%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24-168 hour forecasting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Real-time inference (&lt;100ms)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2801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Device-level insights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Interactive dashboards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Smart recommendations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5 comprehensive views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</a:rPr>
              <a:t>Business Impact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$300+/month savings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$3,600+ annual ROI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Scalable to 1000s homes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Sustainable energy usage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Trained on 2M+ records from UCI Household Power Consumption Dataset</a:t>
            </a:r>
            <a:endParaRPr lang="en-US" sz="14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</a:t>
            </a:r>
          </a:p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945674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294567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HTML5, CSS3, JavaScript (ES6+)</a:t>
            </a:r>
          </a:p>
          <a:p>
            <a:pPr>
              <a:buSzPct val="100000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Chart.js for visualizations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Responsive design (mobile-ready)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Real-time data updates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1280160"/>
            <a:ext cx="292608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0" y="12801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760720" y="192024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Python Flask REST API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10+ API endpoints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Real-time data processing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Error handling &amp; logging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4535" y="3395773"/>
            <a:ext cx="7814930" cy="29062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MACHINE LEARNING &amp;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586446" y="3931920"/>
            <a:ext cx="610035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TensorFlow/Keras LSTM (3 layers: 128→64→32 units)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Pandas &amp; NumPy for data processing (2M+ records)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Scikit-learn (baseline model, metrics, preprocessing)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Feature engineering: time features, lag features, rolling statistics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286000" cy="822960"/>
          </a:xfrm>
          <a:prstGeom prst="rect">
            <a:avLst/>
          </a:prstGeom>
          <a:solidFill>
            <a:srgbClr val="CADC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📊 DATA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UCI Dataset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2M+ records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→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566160" y="1463040"/>
            <a:ext cx="2286000" cy="82296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463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⚙️ PROCESSING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Clean &amp; Engineer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72783" y="1737360"/>
            <a:ext cx="5194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96"/>
                </a:solidFill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583680" y="1463040"/>
            <a:ext cx="2286000" cy="822960"/>
          </a:xfrm>
          <a:prstGeom prst="rect">
            <a:avLst/>
          </a:prstGeom>
          <a:solidFill>
            <a:srgbClr val="CADCFC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463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🤖 AI MODEL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LSTM Network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94.7% Accuracy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</a:rPr>
              <a:t>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6"/>
                </a:solidFill>
              </a:rPr>
              <a:t>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63524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</a:rPr>
              <a:t>↓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286000" y="2926080"/>
            <a:ext cx="201168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FLASK API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REST Endpoints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5029200" y="2926080"/>
            <a:ext cx="201168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WEB UI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Interactive Dashboard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Deployed on: GitHub (version control) + Render (cloud hosting)</a:t>
            </a:r>
            <a:endParaRPr lang="en-US" sz="1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u="sng" dirty="0">
                <a:solidFill>
                  <a:schemeClr val="bg2">
                    <a:lumMod val="25000"/>
                  </a:schemeClr>
                </a:solidFill>
              </a:rPr>
              <a:t>LSTM Architecture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Layer 1: LSTM(128) + Dropout(0.2)</a:t>
            </a:r>
            <a:endParaRPr lang="en-US" sz="12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Layer 2: LSTM(64) + Dropout(0.2)</a:t>
            </a:r>
            <a:endParaRPr lang="en-US" sz="12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Layer 3: LSTM(32) + Dropout(0.2)</a:t>
            </a:r>
            <a:endParaRPr lang="en-US" sz="12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Dense(16) + Dense(1) output</a:t>
            </a:r>
            <a:endParaRPr lang="en-US" sz="12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Optimizer: Adam (lr=0.001)</a:t>
            </a:r>
            <a:endParaRPr lang="en-US" sz="1200" dirty="0"/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Loss: Mean Squared Error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u="sng" dirty="0">
                <a:solidFill>
                  <a:schemeClr val="bg2">
                    <a:lumMod val="25000"/>
                  </a:schemeClr>
                </a:solidFill>
              </a:rPr>
              <a:t>Performance Metrics</a:t>
            </a:r>
          </a:p>
        </p:txBody>
      </p:sp>
      <p:sp>
        <p:nvSpPr>
          <p:cNvPr id="6" name="Shape 4"/>
          <p:cNvSpPr/>
          <p:nvPr/>
        </p:nvSpPr>
        <p:spPr>
          <a:xfrm>
            <a:off x="4663440" y="1737360"/>
            <a:ext cx="402336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7373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</a:rPr>
              <a:t>RMSE: 0.0253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2514600"/>
            <a:ext cx="402336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5146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</a:rPr>
              <a:t>MAE: 0.0176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3291840"/>
            <a:ext cx="402336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2918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R² Score: 0.998 (99.8%)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</a:rPr>
              <a:t>LSTM achieves 40% improvement over baseline Linear Regression (R² = 0.58)</a:t>
            </a:r>
            <a:endParaRPr lang="en-US" sz="14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 Features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📊 Dashboard View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Real-time stats, device grid, AI recommendations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3440" y="1280160"/>
            <a:ext cx="402336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2801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📈 Analytics View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Trends, heatmap, peak usage, device breakdown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02336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603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🤖 Predictions View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LSTM vs Baseline, 7-day forecast, confidence intervals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560320"/>
            <a:ext cx="402336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5603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⚡ Devices View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Individual device stats, room filtering, efficiency scores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3840480"/>
            <a:ext cx="402336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8404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💡 Insights View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Savings opportunities, efficiency gauge, cost projections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 Workflow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b="1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F3C7E"/>
                </a:solidFill>
              </a:rPr>
              <a:t>Data Collection &amp; Exploration - UCI Dataset (2M records)</a:t>
            </a:r>
            <a:endParaRPr lang="en-US" sz="1400" b="1" i="1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F3C7E"/>
                </a:solidFill>
              </a:rPr>
              <a:t>Data Cleaning &amp; Preprocessing - Handle missing values, outliers, normalization</a:t>
            </a:r>
            <a:endParaRPr lang="en-US" sz="1400" b="1" i="1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b="1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2F3C7E"/>
                </a:solidFill>
              </a:rPr>
              <a:t>Feature Engineering - Time features, lag features, rolling statistics</a:t>
            </a:r>
            <a:endParaRPr lang="en-US" sz="1400" b="1" i="1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b="1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</a:rPr>
              <a:t>Baseline Model - Linear </a:t>
            </a:r>
            <a:r>
              <a:rPr lang="en-US" sz="1400" b="1" i="1" dirty="0">
                <a:solidFill>
                  <a:srgbClr val="2F3C7E"/>
                </a:solidFill>
              </a:rPr>
              <a:t>Regression</a:t>
            </a:r>
            <a:r>
              <a:rPr lang="en-US" sz="1400" b="1" dirty="0">
                <a:solidFill>
                  <a:srgbClr val="2F3C7E"/>
                </a:solidFill>
              </a:rPr>
              <a:t> for comparison (R² = 0.78)</a:t>
            </a:r>
            <a:endParaRPr lang="en-US" sz="1400" b="1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b="1" dirty="0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</a:rPr>
              <a:t>LSTM Development - Build, train, tune (R² = 0.947)</a:t>
            </a:r>
            <a:endParaRPr lang="en-US" sz="1400" b="1" dirty="0"/>
          </a:p>
        </p:txBody>
      </p:sp>
      <p:sp>
        <p:nvSpPr>
          <p:cNvPr id="18" name="Shape 16"/>
          <p:cNvSpPr/>
          <p:nvPr/>
        </p:nvSpPr>
        <p:spPr>
          <a:xfrm>
            <a:off x="457200" y="5257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b="1" dirty="0"/>
          </a:p>
        </p:txBody>
      </p:sp>
      <p:sp>
        <p:nvSpPr>
          <p:cNvPr id="20" name="Text 18"/>
          <p:cNvSpPr/>
          <p:nvPr/>
        </p:nvSpPr>
        <p:spPr>
          <a:xfrm>
            <a:off x="137160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</a:rPr>
              <a:t>Web Application - Flask backend + Interactive frontend</a:t>
            </a:r>
            <a:endParaRPr lang="en-US" sz="1400" b="1" dirty="0"/>
          </a:p>
        </p:txBody>
      </p:sp>
      <p:sp>
        <p:nvSpPr>
          <p:cNvPr id="21" name="Shape 19"/>
          <p:cNvSpPr/>
          <p:nvPr/>
        </p:nvSpPr>
        <p:spPr>
          <a:xfrm>
            <a:off x="457200" y="6035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035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b="1" dirty="0"/>
          </a:p>
        </p:txBody>
      </p:sp>
      <p:sp>
        <p:nvSpPr>
          <p:cNvPr id="23" name="Text 21"/>
          <p:cNvSpPr/>
          <p:nvPr/>
        </p:nvSpPr>
        <p:spPr>
          <a:xfrm>
            <a:off x="137160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3C7E"/>
                </a:solidFill>
              </a:rPr>
              <a:t>Deployment - GitHub + Vercel cloud hosting</a:t>
            </a:r>
            <a:endParaRPr lang="en-US" sz="1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Results &amp; Impact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28090"/>
                </a:solidFill>
              </a:rPr>
              <a:t>99.8%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F3C7E"/>
                </a:solidFill>
              </a:rPr>
              <a:t>Prediction Accuracy</a:t>
            </a:r>
            <a:endParaRPr lang="en-US" sz="1400" i="1" dirty="0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A896"/>
                </a:solidFill>
              </a:rPr>
              <a:t>$3,600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20040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F3C7E"/>
                </a:solidFill>
              </a:rPr>
              <a:t>Annual Savings</a:t>
            </a:r>
            <a:endParaRPr lang="en-US" sz="1400" i="1" dirty="0"/>
          </a:p>
        </p:txBody>
      </p:sp>
      <p:sp>
        <p:nvSpPr>
          <p:cNvPr id="7" name="Text 5"/>
          <p:cNvSpPr/>
          <p:nvPr/>
        </p:nvSpPr>
        <p:spPr>
          <a:xfrm>
            <a:off x="603504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2C39A"/>
                </a:solidFill>
              </a:rPr>
              <a:t>2M+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03504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F3C7E"/>
                </a:solidFill>
              </a:rPr>
              <a:t>Training Records</a:t>
            </a:r>
            <a:endParaRPr lang="en-US" sz="1400" i="1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✅ ACCOMPLISHMENTS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75410" y="3566160"/>
            <a:ext cx="4238899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buSzPct val="100000"/>
            </a:pPr>
            <a:r>
              <a:rPr lang="en-US" sz="1300" dirty="0">
                <a:solidFill>
                  <a:srgbClr val="2F3C7E"/>
                </a:solidFill>
              </a:rPr>
              <a:t>• Full-stack application deployed on cloud</a:t>
            </a:r>
            <a:endParaRPr lang="en-US" sz="1300" dirty="0"/>
          </a:p>
          <a:p>
            <a:pPr>
              <a:lnSpc>
                <a:spcPct val="150000"/>
              </a:lnSpc>
              <a:buSzPct val="100000"/>
            </a:pPr>
            <a:r>
              <a:rPr lang="en-US" sz="1300" dirty="0">
                <a:solidFill>
                  <a:srgbClr val="2F3C7E"/>
                </a:solidFill>
              </a:rPr>
              <a:t>• Production-ready ML model with real-time inference</a:t>
            </a:r>
            <a:endParaRPr lang="en-US" sz="1300" dirty="0"/>
          </a:p>
          <a:p>
            <a:pPr>
              <a:lnSpc>
                <a:spcPct val="150000"/>
              </a:lnSpc>
              <a:buSzPct val="100000"/>
            </a:pPr>
            <a:r>
              <a:rPr lang="en-US" sz="1300" dirty="0">
                <a:solidFill>
                  <a:srgbClr val="2F3C7E"/>
                </a:solidFill>
              </a:rPr>
              <a:t>• Professional codebase on GitHub with version control</a:t>
            </a:r>
            <a:endParaRPr lang="en-US" sz="1300" dirty="0"/>
          </a:p>
          <a:p>
            <a:pPr>
              <a:lnSpc>
                <a:spcPct val="150000"/>
              </a:lnSpc>
              <a:buSzPct val="100000"/>
            </a:pPr>
            <a:r>
              <a:rPr lang="en-US" sz="1300" dirty="0">
                <a:solidFill>
                  <a:srgbClr val="2F3C7E"/>
                </a:solidFill>
              </a:rPr>
              <a:t>• Scalable architecture ready for IoT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1645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Mobile Application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</a:rPr>
              <a:t>Native iOS/Android apps for on-the-go monitoring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645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6344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IoT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</a:rPr>
              <a:t>Real smart meter connection with live data streaming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023360" cy="1645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☀️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Solar Optimization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</a:rPr>
              <a:t>Predict solar generation and optimize battery storage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200400"/>
            <a:ext cx="4023360" cy="1645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🏘️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3749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Multi-Home Support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4114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</a:rPr>
              <a:t>Scale to neighborhood-level energy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3D Model 5" descr="Question Mark">
                <a:extLst>
                  <a:ext uri="{FF2B5EF4-FFF2-40B4-BE49-F238E27FC236}">
                    <a16:creationId xmlns:a16="http://schemas.microsoft.com/office/drawing/2014/main" id="{05406E38-D0AF-0234-0151-1D850DC84D9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382935951"/>
                  </p:ext>
                </p:extLst>
              </p:nvPr>
            </p:nvGraphicFramePr>
            <p:xfrm>
              <a:off x="3422566" y="595353"/>
              <a:ext cx="2181301" cy="3142895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181301" cy="3142895"/>
                    </a:xfrm>
                    <a:prstGeom prst="rect">
                      <a:avLst/>
                    </a:prstGeom>
                  </am3d:spPr>
                  <am3d:camera>
                    <am3d:pos x="0" y="0" z="5757311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00190" d="1000000"/>
                    <am3d:preTrans dx="-1666792" dy="-16252391" dz="260942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4018186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3D Model 5" descr="Question Mark">
                <a:extLst>
                  <a:ext uri="{FF2B5EF4-FFF2-40B4-BE49-F238E27FC236}">
                    <a16:creationId xmlns:a16="http://schemas.microsoft.com/office/drawing/2014/main" id="{05406E38-D0AF-0234-0151-1D850DC84D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22566" y="595353"/>
                <a:ext cx="2181301" cy="3142895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 0"/>
          <p:cNvSpPr/>
          <p:nvPr/>
        </p:nvSpPr>
        <p:spPr>
          <a:xfrm>
            <a:off x="2285424" y="3908288"/>
            <a:ext cx="4573152" cy="3586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Thank You!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982481"/>
            <a:ext cx="8229600" cy="587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QnA</a:t>
            </a:r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Session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43205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GitHub: github.com/springboardmentor1361k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692</Words>
  <Application>Microsoft Office PowerPoint</Application>
  <PresentationFormat>On-screen Show (16:9)</PresentationFormat>
  <Paragraphs>158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Agency FB</vt:lpstr>
      <vt:lpstr>Arial</vt:lpstr>
      <vt:lpstr>Bell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 Dashboard - AI-Powered Prediction System</dc:title>
  <dc:subject>PptxGenJS Presentation</dc:subject>
  <dc:creator>Manshika Patodiya</dc:creator>
  <cp:lastModifiedBy>Shashank Singh</cp:lastModifiedBy>
  <cp:revision>3</cp:revision>
  <dcterms:created xsi:type="dcterms:W3CDTF">2026-02-20T15:34:05Z</dcterms:created>
  <dcterms:modified xsi:type="dcterms:W3CDTF">2026-03-13T09:22:25Z</dcterms:modified>
</cp:coreProperties>
</file>